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0" cy="6858000"/>
          </a:xfrm>
          <a:prstGeom prst="rect">
            <a:avLst/>
          </a:prstGeom>
          <a:solidFill>
            <a:srgbClr val="5B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0" y="2377440"/>
            <a:ext cx="7315200" cy="2743200"/>
          </a:xfrm>
          <a:prstGeom prst="rect">
            <a:avLst/>
          </a:prstGeom>
          <a:noFill/>
        </p:spPr>
        <p:txBody>
          <a:bodyPr wrap="square">
            <a:spAutoFit/>
          </a:bodyPr>
          <a:lstStyle/>
          <a:p>
            <a:r>
              <a:rPr sz="4400" b="1">
                <a:solidFill>
                  <a:srgbClr val="303030"/>
                </a:solidFill>
                <a:latin typeface="Georgia"/>
              </a:rPr>
              <a:t>Emotion Garden</a:t>
            </a:r>
          </a:p>
          <a:p>
            <a:r>
              <a:rPr sz="2400" b="0">
                <a:solidFill>
                  <a:srgbClr val="5B8C5A"/>
                </a:solidFill>
                <a:latin typeface="Georgia"/>
              </a:rPr>
              <a:t>Project journal</a:t>
            </a:r>
          </a:p>
          <a:p>
            <a:r>
              <a:rPr sz="1500" b="0">
                <a:solidFill>
                  <a:srgbClr val="303030"/>
                </a:solidFill>
                <a:latin typeface="Georgia"/>
              </a:rPr>
              <a:t>Short notes written after class or after work on the sketch. Each week contains a goal, what happened and one thing I learned.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0" cy="6858000"/>
          </a:xfrm>
          <a:prstGeom prst="rect">
            <a:avLst/>
          </a:prstGeom>
          <a:solidFill>
            <a:srgbClr val="5B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457200"/>
            <a:ext cx="1645920" cy="1828800"/>
          </a:xfrm>
          <a:prstGeom prst="rect">
            <a:avLst/>
          </a:prstGeom>
          <a:noFill/>
        </p:spPr>
        <p:txBody>
          <a:bodyPr wrap="none">
            <a:spAutoFit/>
          </a:bodyPr>
          <a:lstStyle/>
          <a:p>
            <a:r>
              <a:rPr sz="1600" b="0">
                <a:solidFill>
                  <a:srgbClr val="FFFFFF"/>
                </a:solidFill>
                <a:latin typeface="Georgia"/>
              </a:rPr>
              <a:t>WEEK</a:t>
            </a:r>
          </a:p>
          <a:p>
            <a:r>
              <a:rPr sz="6000" b="1">
                <a:solidFill>
                  <a:srgbClr val="FFFFFF"/>
                </a:solidFill>
                <a:latin typeface="Georgia"/>
              </a:rPr>
              <a:t>1</a:t>
            </a:r>
          </a:p>
        </p:txBody>
      </p:sp>
      <p:sp>
        <p:nvSpPr>
          <p:cNvPr id="4" name="TextBox 3"/>
          <p:cNvSpPr txBox="1"/>
          <p:nvPr/>
        </p:nvSpPr>
        <p:spPr>
          <a:xfrm>
            <a:off x="2377440" y="320040"/>
            <a:ext cx="9418320" cy="731520"/>
          </a:xfrm>
          <a:prstGeom prst="rect">
            <a:avLst/>
          </a:prstGeom>
          <a:noFill/>
        </p:spPr>
        <p:txBody>
          <a:bodyPr wrap="none">
            <a:spAutoFit/>
          </a:bodyPr>
          <a:lstStyle/>
          <a:p>
            <a:r>
              <a:rPr sz="2800" b="1">
                <a:solidFill>
                  <a:srgbClr val="303030"/>
                </a:solidFill>
                <a:latin typeface="Georgia"/>
              </a:rPr>
              <a:t>concept map 1</a:t>
            </a:r>
          </a:p>
        </p:txBody>
      </p:sp>
      <p:sp>
        <p:nvSpPr>
          <p:cNvPr id="5" name="TextBox 4"/>
          <p:cNvSpPr txBox="1"/>
          <p:nvPr/>
        </p:nvSpPr>
        <p:spPr>
          <a:xfrm>
            <a:off x="2377440" y="1188720"/>
            <a:ext cx="5852160" cy="5394960"/>
          </a:xfrm>
          <a:prstGeom prst="rect">
            <a:avLst/>
          </a:prstGeom>
          <a:noFill/>
        </p:spPr>
        <p:txBody>
          <a:bodyPr wrap="square">
            <a:spAutoFit/>
          </a:bodyPr>
          <a:lstStyle/>
          <a:p>
            <a:pPr>
              <a:spcAft>
                <a:spcPts val="600"/>
              </a:spcAft>
            </a:pPr>
            <a:r>
              <a:rPr sz="1500" b="1">
                <a:solidFill>
                  <a:srgbClr val="5B8C5A"/>
                </a:solidFill>
                <a:latin typeface="Georgia"/>
              </a:rPr>
              <a:t>Goal: </a:t>
            </a:r>
            <a:r>
              <a:rPr sz="1500" b="0">
                <a:solidFill>
                  <a:srgbClr val="303030"/>
                </a:solidFill>
                <a:latin typeface="Georgia"/>
              </a:rPr>
              <a:t>tutorial activity: draw a map of "what is code".</a:t>
            </a:r>
          </a:p>
          <a:p>
            <a:pPr>
              <a:spcAft>
                <a:spcPts val="600"/>
              </a:spcAft>
            </a:pPr>
            <a:r>
              <a:rPr sz="1500" b="1">
                <a:solidFill>
                  <a:srgbClr val="5B8C5A"/>
                </a:solidFill>
                <a:latin typeface="Georgia"/>
              </a:rPr>
              <a:t>What happened: </a:t>
            </a:r>
            <a:r>
              <a:rPr sz="1500" b="0">
                <a:solidFill>
                  <a:srgbClr val="303030"/>
                </a:solidFill>
                <a:latin typeface="Georgia"/>
              </a:rPr>
              <a:t>In the centre of the map I wrote CODE and around it I wrote: computer language, English words, Programmers, Apps &amp; Games, Maths. Lines all went out from the centre. I completely ignored art or drawing on the map.</a:t>
            </a:r>
          </a:p>
          <a:p>
            <a:pPr>
              <a:spcAft>
                <a:spcPts val="600"/>
              </a:spcAft>
            </a:pPr>
            <a:r>
              <a:rPr sz="1500" b="1">
                <a:solidFill>
                  <a:srgbClr val="5B8C5A"/>
                </a:solidFill>
                <a:latin typeface="Georgia"/>
              </a:rPr>
              <a:t>Learnt: </a:t>
            </a:r>
            <a:r>
              <a:rPr sz="1500" b="0">
                <a:solidFill>
                  <a:srgbClr val="303030"/>
                </a:solidFill>
                <a:latin typeface="Georgia"/>
              </a:rPr>
              <a:t>I had no idea about code. It was something other people do and had nothing to do with pictures.</a:t>
            </a:r>
          </a:p>
        </p:txBody>
      </p:sp>
      <p:pic>
        <p:nvPicPr>
          <p:cNvPr id="6" name="Picture 5" descr=""/>
          <p:cNvPicPr>
            <a:picLocks noChangeAspect="1"/>
          </p:cNvPicPr>
          <p:nvPr/>
        </p:nvPicPr>
        <p:blipFill>
          <a:blip r:embed="rId2"/>
          <a:stretch>
            <a:fillRect/>
          </a:stretch>
        </p:blipFill>
        <p:spPr>
          <a:xfrm>
            <a:off x="8503920" y="1280160"/>
            <a:ext cx="3383280" cy="2890336"/>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0" cy="6858000"/>
          </a:xfrm>
          <a:prstGeom prst="rect">
            <a:avLst/>
          </a:prstGeom>
          <a:solidFill>
            <a:srgbClr val="5B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457200"/>
            <a:ext cx="1645920" cy="1828800"/>
          </a:xfrm>
          <a:prstGeom prst="rect">
            <a:avLst/>
          </a:prstGeom>
          <a:noFill/>
        </p:spPr>
        <p:txBody>
          <a:bodyPr wrap="none">
            <a:spAutoFit/>
          </a:bodyPr>
          <a:lstStyle/>
          <a:p>
            <a:r>
              <a:rPr sz="1600" b="0">
                <a:solidFill>
                  <a:srgbClr val="FFFFFF"/>
                </a:solidFill>
                <a:latin typeface="Georgia"/>
              </a:rPr>
              <a:t>WEEK</a:t>
            </a:r>
          </a:p>
          <a:p>
            <a:r>
              <a:rPr sz="6000" b="1">
                <a:solidFill>
                  <a:srgbClr val="FFFFFF"/>
                </a:solidFill>
                <a:latin typeface="Georgia"/>
              </a:rPr>
              <a:t>3</a:t>
            </a:r>
          </a:p>
        </p:txBody>
      </p:sp>
      <p:sp>
        <p:nvSpPr>
          <p:cNvPr id="4" name="TextBox 3"/>
          <p:cNvSpPr txBox="1"/>
          <p:nvPr/>
        </p:nvSpPr>
        <p:spPr>
          <a:xfrm>
            <a:off x="2377440" y="320040"/>
            <a:ext cx="9418320" cy="731520"/>
          </a:xfrm>
          <a:prstGeom prst="rect">
            <a:avLst/>
          </a:prstGeom>
          <a:noFill/>
        </p:spPr>
        <p:txBody>
          <a:bodyPr wrap="none">
            <a:spAutoFit/>
          </a:bodyPr>
          <a:lstStyle/>
          <a:p>
            <a:r>
              <a:rPr sz="2800" b="1">
                <a:solidFill>
                  <a:srgbClr val="303030"/>
                </a:solidFill>
                <a:latin typeface="Georgia"/>
              </a:rPr>
              <a:t>pitch</a:t>
            </a:r>
          </a:p>
        </p:txBody>
      </p:sp>
      <p:sp>
        <p:nvSpPr>
          <p:cNvPr id="5" name="TextBox 4"/>
          <p:cNvSpPr txBox="1"/>
          <p:nvPr/>
        </p:nvSpPr>
        <p:spPr>
          <a:xfrm>
            <a:off x="2377440" y="1188720"/>
            <a:ext cx="9418320" cy="5394960"/>
          </a:xfrm>
          <a:prstGeom prst="rect">
            <a:avLst/>
          </a:prstGeom>
          <a:noFill/>
        </p:spPr>
        <p:txBody>
          <a:bodyPr wrap="square">
            <a:spAutoFit/>
          </a:bodyPr>
          <a:lstStyle/>
          <a:p>
            <a:pPr>
              <a:spcAft>
                <a:spcPts val="600"/>
              </a:spcAft>
            </a:pPr>
            <a:r>
              <a:rPr sz="1500" b="1">
                <a:solidFill>
                  <a:srgbClr val="5B8C5A"/>
                </a:solidFill>
                <a:latin typeface="Georgia"/>
              </a:rPr>
              <a:t>Goal: </a:t>
            </a:r>
            <a:r>
              <a:rPr sz="1500" b="0">
                <a:solidFill>
                  <a:srgbClr val="303030"/>
                </a:solidFill>
                <a:latin typeface="Georgia"/>
              </a:rPr>
              <a:t>pitch my idea.</a:t>
            </a:r>
          </a:p>
          <a:p>
            <a:pPr>
              <a:spcAft>
                <a:spcPts val="600"/>
              </a:spcAft>
            </a:pPr>
            <a:r>
              <a:rPr sz="1500" b="1">
                <a:solidFill>
                  <a:srgbClr val="5B8C5A"/>
                </a:solidFill>
                <a:latin typeface="Georgia"/>
              </a:rPr>
              <a:t>What happened: </a:t>
            </a:r>
            <a:r>
              <a:rPr sz="1500" b="0">
                <a:solidFill>
                  <a:srgbClr val="303030"/>
                </a:solidFill>
                <a:latin typeface="Georgia"/>
              </a:rPr>
              <a:t>Emotion Garden: Four scenes (Happy, Calm, Sad, Angry) made in Processing using colour, nature and movement to represent emotions. My plan was six weeks: research, drawing objects, animation, interaction, testing and improvements.</a:t>
            </a:r>
          </a:p>
          <a:p>
            <a:pPr>
              <a:spcAft>
                <a:spcPts val="600"/>
              </a:spcAft>
            </a:pPr>
            <a:r>
              <a:rPr sz="1500" b="1">
                <a:solidFill>
                  <a:srgbClr val="5B8C5A"/>
                </a:solidFill>
                <a:latin typeface="Georgia"/>
              </a:rPr>
              <a:t>Learnt: </a:t>
            </a:r>
            <a:r>
              <a:rPr sz="1500" b="0">
                <a:solidFill>
                  <a:srgbClr val="303030"/>
                </a:solidFill>
                <a:latin typeface="Georgia"/>
              </a:rPr>
              <a:t>The idea was easy to say but I had no idea how to make even one flower move.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0" cy="6858000"/>
          </a:xfrm>
          <a:prstGeom prst="rect">
            <a:avLst/>
          </a:prstGeom>
          <a:solidFill>
            <a:srgbClr val="5B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457200"/>
            <a:ext cx="1645920" cy="1828800"/>
          </a:xfrm>
          <a:prstGeom prst="rect">
            <a:avLst/>
          </a:prstGeom>
          <a:noFill/>
        </p:spPr>
        <p:txBody>
          <a:bodyPr wrap="none">
            <a:spAutoFit/>
          </a:bodyPr>
          <a:lstStyle/>
          <a:p>
            <a:r>
              <a:rPr sz="1600" b="0">
                <a:solidFill>
                  <a:srgbClr val="FFFFFF"/>
                </a:solidFill>
                <a:latin typeface="Georgia"/>
              </a:rPr>
              <a:t>WEEK</a:t>
            </a:r>
          </a:p>
          <a:p>
            <a:r>
              <a:rPr sz="6000" b="1">
                <a:solidFill>
                  <a:srgbClr val="FFFFFF"/>
                </a:solidFill>
                <a:latin typeface="Georgia"/>
              </a:rPr>
              <a:t>7</a:t>
            </a:r>
          </a:p>
        </p:txBody>
      </p:sp>
      <p:sp>
        <p:nvSpPr>
          <p:cNvPr id="4" name="TextBox 3"/>
          <p:cNvSpPr txBox="1"/>
          <p:nvPr/>
        </p:nvSpPr>
        <p:spPr>
          <a:xfrm>
            <a:off x="2377440" y="320040"/>
            <a:ext cx="9418320" cy="731520"/>
          </a:xfrm>
          <a:prstGeom prst="rect">
            <a:avLst/>
          </a:prstGeom>
          <a:noFill/>
        </p:spPr>
        <p:txBody>
          <a:bodyPr wrap="none">
            <a:spAutoFit/>
          </a:bodyPr>
          <a:lstStyle/>
          <a:p>
            <a:r>
              <a:rPr sz="2800" b="1">
                <a:solidFill>
                  <a:srgbClr val="303030"/>
                </a:solidFill>
                <a:latin typeface="Georgia"/>
              </a:rPr>
              <a:t>research, and a lot of searching</a:t>
            </a:r>
          </a:p>
        </p:txBody>
      </p:sp>
      <p:sp>
        <p:nvSpPr>
          <p:cNvPr id="5" name="TextBox 4"/>
          <p:cNvSpPr txBox="1"/>
          <p:nvPr/>
        </p:nvSpPr>
        <p:spPr>
          <a:xfrm>
            <a:off x="2377440" y="1188720"/>
            <a:ext cx="9418320" cy="5394960"/>
          </a:xfrm>
          <a:prstGeom prst="rect">
            <a:avLst/>
          </a:prstGeom>
          <a:noFill/>
        </p:spPr>
        <p:txBody>
          <a:bodyPr wrap="square">
            <a:spAutoFit/>
          </a:bodyPr>
          <a:lstStyle/>
          <a:p>
            <a:pPr>
              <a:spcAft>
                <a:spcPts val="600"/>
              </a:spcAft>
            </a:pPr>
            <a:r>
              <a:rPr sz="1300" b="1">
                <a:solidFill>
                  <a:srgbClr val="5B8C5A"/>
                </a:solidFill>
                <a:latin typeface="Georgia"/>
              </a:rPr>
              <a:t>Goal: </a:t>
            </a:r>
            <a:r>
              <a:rPr sz="1300" b="0">
                <a:solidFill>
                  <a:srgbClr val="303030"/>
                </a:solidFill>
                <a:latin typeface="Georgia"/>
              </a:rPr>
              <a:t>get a window with something in it.</a:t>
            </a:r>
          </a:p>
          <a:p>
            <a:pPr>
              <a:spcAft>
                <a:spcPts val="600"/>
              </a:spcAft>
            </a:pPr>
            <a:r>
              <a:rPr sz="1300" b="1">
                <a:solidFill>
                  <a:srgbClr val="5B8C5A"/>
                </a:solidFill>
                <a:latin typeface="Georgia"/>
              </a:rPr>
              <a:t>What happened: </a:t>
            </a:r>
            <a:r>
              <a:rPr sz="1300" b="0">
                <a:solidFill>
                  <a:srgbClr val="303030"/>
                </a:solidFill>
                <a:latin typeface="Georgia"/>
              </a:rPr>
              <a:t>Before I even wrote a single line of code I spent a good amount of time reading the Processing Reference and watching lots of relevant YouTube videos. I copied the animation code from the Week 4 lecture: setup() runs once, draw() runs again and again. My first sketch was a blue background with a yellow circle to represent the sun.</a:t>
            </a:r>
          </a:p>
          <a:p>
            <a:pPr>
              <a:spcAft>
                <a:spcPts val="600"/>
              </a:spcAft>
            </a:pPr>
            <a:r>
              <a:rPr sz="1300" b="0">
                <a:solidFill>
                  <a:srgbClr val="303030"/>
                </a:solidFill>
                <a:latin typeface="Georgia"/>
              </a:rPr>
              <a:t>I wanted the sun at the top, but at (450, 500) the circle was in the bottom centre. In Processing (0, 0) is the top left corner and y gets bigger going down. In the Week 2 graph, like maths, (0, 0) was at the bottom, so I had it upside down in my head.</a:t>
            </a:r>
          </a:p>
          <a:p>
            <a:pPr>
              <a:spcAft>
                <a:spcPts val="600"/>
              </a:spcAft>
            </a:pPr>
            <a:r>
              <a:rPr sz="1300" b="1">
                <a:solidFill>
                  <a:srgbClr val="5B8C5A"/>
                </a:solidFill>
                <a:latin typeface="Georgia"/>
              </a:rPr>
              <a:t>Learnt: </a:t>
            </a:r>
            <a:r>
              <a:rPr sz="1300" b="0">
                <a:solidFill>
                  <a:srgbClr val="303030"/>
                </a:solidFill>
                <a:latin typeface="Georgia"/>
              </a:rPr>
              <a:t>searching gave me code, but I could not tell what each line was doing.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0" cy="6858000"/>
          </a:xfrm>
          <a:prstGeom prst="rect">
            <a:avLst/>
          </a:prstGeom>
          <a:solidFill>
            <a:srgbClr val="5B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457200"/>
            <a:ext cx="1645920" cy="1828800"/>
          </a:xfrm>
          <a:prstGeom prst="rect">
            <a:avLst/>
          </a:prstGeom>
          <a:noFill/>
        </p:spPr>
        <p:txBody>
          <a:bodyPr wrap="none">
            <a:spAutoFit/>
          </a:bodyPr>
          <a:lstStyle/>
          <a:p>
            <a:r>
              <a:rPr sz="1600" b="0">
                <a:solidFill>
                  <a:srgbClr val="FFFFFF"/>
                </a:solidFill>
                <a:latin typeface="Georgia"/>
              </a:rPr>
              <a:t>WEEK</a:t>
            </a:r>
          </a:p>
          <a:p>
            <a:r>
              <a:rPr sz="6000" b="1">
                <a:solidFill>
                  <a:srgbClr val="FFFFFF"/>
                </a:solidFill>
                <a:latin typeface="Georgia"/>
              </a:rPr>
              <a:t>8</a:t>
            </a:r>
          </a:p>
        </p:txBody>
      </p:sp>
      <p:sp>
        <p:nvSpPr>
          <p:cNvPr id="4" name="TextBox 3"/>
          <p:cNvSpPr txBox="1"/>
          <p:nvPr/>
        </p:nvSpPr>
        <p:spPr>
          <a:xfrm>
            <a:off x="2377440" y="320040"/>
            <a:ext cx="9418320" cy="731520"/>
          </a:xfrm>
          <a:prstGeom prst="rect">
            <a:avLst/>
          </a:prstGeom>
          <a:noFill/>
        </p:spPr>
        <p:txBody>
          <a:bodyPr wrap="none">
            <a:spAutoFit/>
          </a:bodyPr>
          <a:lstStyle/>
          <a:p>
            <a:r>
              <a:rPr sz="2800" b="1">
                <a:solidFill>
                  <a:srgbClr val="303030"/>
                </a:solidFill>
                <a:latin typeface="Georgia"/>
              </a:rPr>
              <a:t>drawing the objects</a:t>
            </a:r>
          </a:p>
        </p:txBody>
      </p:sp>
      <p:sp>
        <p:nvSpPr>
          <p:cNvPr id="5" name="TextBox 4"/>
          <p:cNvSpPr txBox="1"/>
          <p:nvPr/>
        </p:nvSpPr>
        <p:spPr>
          <a:xfrm>
            <a:off x="2377440" y="1188720"/>
            <a:ext cx="5852160" cy="5394960"/>
          </a:xfrm>
          <a:prstGeom prst="rect">
            <a:avLst/>
          </a:prstGeom>
          <a:noFill/>
        </p:spPr>
        <p:txBody>
          <a:bodyPr wrap="square">
            <a:spAutoFit/>
          </a:bodyPr>
          <a:lstStyle/>
          <a:p>
            <a:pPr>
              <a:spcAft>
                <a:spcPts val="600"/>
              </a:spcAft>
            </a:pPr>
            <a:r>
              <a:rPr sz="1500" b="1">
                <a:solidFill>
                  <a:srgbClr val="5B8C5A"/>
                </a:solidFill>
                <a:latin typeface="Georgia"/>
              </a:rPr>
              <a:t>Goal: </a:t>
            </a:r>
            <a:r>
              <a:rPr sz="1500" b="0">
                <a:solidFill>
                  <a:srgbClr val="303030"/>
                </a:solidFill>
                <a:latin typeface="Georgia"/>
              </a:rPr>
              <a:t>flower, cloud, butterfly, leaf.</a:t>
            </a:r>
          </a:p>
          <a:p>
            <a:pPr>
              <a:spcAft>
                <a:spcPts val="600"/>
              </a:spcAft>
            </a:pPr>
            <a:r>
              <a:rPr sz="1500" b="1">
                <a:solidFill>
                  <a:srgbClr val="5B8C5A"/>
                </a:solidFill>
                <a:latin typeface="Georgia"/>
              </a:rPr>
              <a:t>What happened: </a:t>
            </a:r>
            <a:r>
              <a:rPr sz="1500" b="0">
                <a:solidFill>
                  <a:srgbClr val="303030"/>
                </a:solidFill>
                <a:latin typeface="Georgia"/>
              </a:rPr>
              <a:t>one flower is five pink circles and a yellow circle in the middle. Drawing five circles five times is too long, so I made a function drawHappyFlower(x, y). Now one line draws one flower in a new place:</a:t>
            </a:r>
          </a:p>
          <a:p>
            <a:pPr>
              <a:spcAft>
                <a:spcPts val="600"/>
              </a:spcAft>
            </a:pPr>
            <a:r>
              <a:rPr sz="1400" b="0">
                <a:solidFill>
                  <a:srgbClr val="5B8C5A"/>
                </a:solidFill>
                <a:latin typeface="Menlo"/>
              </a:rPr>
              <a:t>drawHappyFlower(150, 450);
drawHappyFlower(300, 430);</a:t>
            </a:r>
          </a:p>
          <a:p>
            <a:pPr>
              <a:spcAft>
                <a:spcPts val="600"/>
              </a:spcAft>
            </a:pPr>
            <a:r>
              <a:rPr sz="1500" b="0">
                <a:solidFill>
                  <a:srgbClr val="303030"/>
                </a:solidFill>
                <a:latin typeface="Georgia"/>
              </a:rPr>
              <a:t>The same thing for drawing clouds, which are three circles, drawCloud(x, y).</a:t>
            </a:r>
          </a:p>
          <a:p>
            <a:pPr>
              <a:spcAft>
                <a:spcPts val="600"/>
              </a:spcAft>
            </a:pPr>
            <a:r>
              <a:rPr sz="1500" b="1">
                <a:solidFill>
                  <a:srgbClr val="5B8C5A"/>
                </a:solidFill>
                <a:latin typeface="Georgia"/>
              </a:rPr>
              <a:t>Learnt: </a:t>
            </a:r>
            <a:r>
              <a:rPr sz="1500" b="0">
                <a:solidFill>
                  <a:srgbClr val="303030"/>
                </a:solidFill>
                <a:latin typeface="Georgia"/>
              </a:rPr>
              <a:t>x and y in the brackets are what make the same function draw in a different place.</a:t>
            </a:r>
          </a:p>
        </p:txBody>
      </p:sp>
      <p:pic>
        <p:nvPicPr>
          <p:cNvPr id="6" name="Picture 5" descr=""/>
          <p:cNvPicPr>
            <a:picLocks noChangeAspect="1"/>
          </p:cNvPicPr>
          <p:nvPr/>
        </p:nvPicPr>
        <p:blipFill>
          <a:blip r:embed="rId2"/>
          <a:stretch>
            <a:fillRect/>
          </a:stretch>
        </p:blipFill>
        <p:spPr>
          <a:xfrm>
            <a:off x="8503920" y="1280160"/>
            <a:ext cx="3383280" cy="22555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0" cy="6858000"/>
          </a:xfrm>
          <a:prstGeom prst="rect">
            <a:avLst/>
          </a:prstGeom>
          <a:solidFill>
            <a:srgbClr val="5B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457200"/>
            <a:ext cx="1645920" cy="1828800"/>
          </a:xfrm>
          <a:prstGeom prst="rect">
            <a:avLst/>
          </a:prstGeom>
          <a:noFill/>
        </p:spPr>
        <p:txBody>
          <a:bodyPr wrap="none">
            <a:spAutoFit/>
          </a:bodyPr>
          <a:lstStyle/>
          <a:p>
            <a:r>
              <a:rPr sz="1600" b="0">
                <a:solidFill>
                  <a:srgbClr val="FFFFFF"/>
                </a:solidFill>
                <a:latin typeface="Georgia"/>
              </a:rPr>
              <a:t>WEEK</a:t>
            </a:r>
          </a:p>
          <a:p>
            <a:r>
              <a:rPr sz="6000" b="1">
                <a:solidFill>
                  <a:srgbClr val="FFFFFF"/>
                </a:solidFill>
                <a:latin typeface="Georgia"/>
              </a:rPr>
              <a:t>9</a:t>
            </a:r>
          </a:p>
        </p:txBody>
      </p:sp>
      <p:sp>
        <p:nvSpPr>
          <p:cNvPr id="4" name="TextBox 3"/>
          <p:cNvSpPr txBox="1"/>
          <p:nvPr/>
        </p:nvSpPr>
        <p:spPr>
          <a:xfrm>
            <a:off x="2377440" y="320040"/>
            <a:ext cx="9418320" cy="731520"/>
          </a:xfrm>
          <a:prstGeom prst="rect">
            <a:avLst/>
          </a:prstGeom>
          <a:noFill/>
        </p:spPr>
        <p:txBody>
          <a:bodyPr wrap="none">
            <a:spAutoFit/>
          </a:bodyPr>
          <a:lstStyle/>
          <a:p>
            <a:r>
              <a:rPr sz="2800" b="1">
                <a:solidFill>
                  <a:srgbClr val="303030"/>
                </a:solidFill>
                <a:latin typeface="Georgia"/>
              </a:rPr>
              <a:t>animation</a:t>
            </a:r>
          </a:p>
        </p:txBody>
      </p:sp>
      <p:sp>
        <p:nvSpPr>
          <p:cNvPr id="5" name="TextBox 4"/>
          <p:cNvSpPr txBox="1"/>
          <p:nvPr/>
        </p:nvSpPr>
        <p:spPr>
          <a:xfrm>
            <a:off x="2377440" y="1188720"/>
            <a:ext cx="5852160" cy="5394960"/>
          </a:xfrm>
          <a:prstGeom prst="rect">
            <a:avLst/>
          </a:prstGeom>
          <a:noFill/>
        </p:spPr>
        <p:txBody>
          <a:bodyPr wrap="square">
            <a:spAutoFit/>
          </a:bodyPr>
          <a:lstStyle/>
          <a:p>
            <a:pPr>
              <a:spcAft>
                <a:spcPts val="600"/>
              </a:spcAft>
            </a:pPr>
            <a:r>
              <a:rPr sz="1300" b="1">
                <a:solidFill>
                  <a:srgbClr val="5B8C5A"/>
                </a:solidFill>
                <a:latin typeface="Georgia"/>
              </a:rPr>
              <a:t>Goal: </a:t>
            </a:r>
            <a:r>
              <a:rPr sz="1300" b="0">
                <a:solidFill>
                  <a:srgbClr val="303030"/>
                </a:solidFill>
                <a:latin typeface="Georgia"/>
              </a:rPr>
              <a:t>make things move.</a:t>
            </a:r>
          </a:p>
          <a:p>
            <a:pPr>
              <a:spcAft>
                <a:spcPts val="600"/>
              </a:spcAft>
            </a:pPr>
            <a:r>
              <a:rPr sz="1300" b="1">
                <a:solidFill>
                  <a:srgbClr val="5B8C5A"/>
                </a:solidFill>
                <a:latin typeface="Georgia"/>
              </a:rPr>
              <a:t>What happened: </a:t>
            </a:r>
            <a:r>
              <a:rPr sz="1300" b="0">
                <a:solidFill>
                  <a:srgbClr val="303030"/>
                </a:solidFill>
                <a:latin typeface="Georgia"/>
              </a:rPr>
              <a:t>The butterfly is made by butterflyX = butterflyX + 2; and it moves right. When it goes off the edge I put it back to -50, so it comes again from the left.</a:t>
            </a:r>
          </a:p>
          <a:p>
            <a:pPr>
              <a:spcAft>
                <a:spcPts val="600"/>
              </a:spcAft>
            </a:pPr>
            <a:r>
              <a:rPr sz="1300" b="0">
                <a:solidFill>
                  <a:srgbClr val="303030"/>
                </a:solidFill>
                <a:latin typeface="Georgia"/>
              </a:rPr>
              <a:t>I had trouble with the petals. One needs x, y and speed. To move 35 petals I used three arrays (petalX[i], petalY[i], petalSpeed[i]) and a for loop which moves each petal. Rain and angry leaves are made the same way, but the leaves have an angle. All 80 raindrops are made in setup() with random(), so they do not all start in the same place.</a:t>
            </a:r>
          </a:p>
          <a:p>
            <a:pPr>
              <a:spcAft>
                <a:spcPts val="600"/>
              </a:spcAft>
            </a:pPr>
            <a:r>
              <a:rPr sz="1300" b="0">
                <a:solidFill>
                  <a:srgbClr val="303030"/>
                </a:solidFill>
                <a:latin typeface="Georgia"/>
              </a:rPr>
              <a:t>Petals fell like stones. I found sin() in the Processing Reference and added sin(petalY[i] * 0.02) * 0.5 to x. Now they move a little left and right as they fall.</a:t>
            </a:r>
          </a:p>
          <a:p>
            <a:pPr>
              <a:spcAft>
                <a:spcPts val="600"/>
              </a:spcAft>
            </a:pPr>
            <a:r>
              <a:rPr sz="1300" b="1">
                <a:solidFill>
                  <a:srgbClr val="5B8C5A"/>
                </a:solidFill>
                <a:latin typeface="Georgia"/>
              </a:rPr>
              <a:t>Learnt: </a:t>
            </a:r>
            <a:r>
              <a:rPr sz="1300" b="0">
                <a:solidFill>
                  <a:srgbClr val="303030"/>
                </a:solidFill>
                <a:latin typeface="Georgia"/>
              </a:rPr>
              <a:t>an array is like a list of boxes, one for each petal, and i is which box.</a:t>
            </a:r>
          </a:p>
        </p:txBody>
      </p:sp>
      <p:pic>
        <p:nvPicPr>
          <p:cNvPr id="6" name="Picture 5" descr=""/>
          <p:cNvPicPr>
            <a:picLocks noChangeAspect="1"/>
          </p:cNvPicPr>
          <p:nvPr/>
        </p:nvPicPr>
        <p:blipFill>
          <a:blip r:embed="rId2"/>
          <a:stretch>
            <a:fillRect/>
          </a:stretch>
        </p:blipFill>
        <p:spPr>
          <a:xfrm>
            <a:off x="8503920" y="1280160"/>
            <a:ext cx="3383280" cy="22555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0" cy="6858000"/>
          </a:xfrm>
          <a:prstGeom prst="rect">
            <a:avLst/>
          </a:prstGeom>
          <a:solidFill>
            <a:srgbClr val="5B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457200"/>
            <a:ext cx="1645920" cy="1828800"/>
          </a:xfrm>
          <a:prstGeom prst="rect">
            <a:avLst/>
          </a:prstGeom>
          <a:noFill/>
        </p:spPr>
        <p:txBody>
          <a:bodyPr wrap="none">
            <a:spAutoFit/>
          </a:bodyPr>
          <a:lstStyle/>
          <a:p>
            <a:r>
              <a:rPr sz="1600" b="0">
                <a:solidFill>
                  <a:srgbClr val="FFFFFF"/>
                </a:solidFill>
                <a:latin typeface="Georgia"/>
              </a:rPr>
              <a:t>WEEK</a:t>
            </a:r>
          </a:p>
          <a:p>
            <a:r>
              <a:rPr sz="6000" b="1">
                <a:solidFill>
                  <a:srgbClr val="FFFFFF"/>
                </a:solidFill>
                <a:latin typeface="Georgia"/>
              </a:rPr>
              <a:t>10</a:t>
            </a:r>
          </a:p>
        </p:txBody>
      </p:sp>
      <p:sp>
        <p:nvSpPr>
          <p:cNvPr id="4" name="TextBox 3"/>
          <p:cNvSpPr txBox="1"/>
          <p:nvPr/>
        </p:nvSpPr>
        <p:spPr>
          <a:xfrm>
            <a:off x="2377440" y="320040"/>
            <a:ext cx="9418320" cy="731520"/>
          </a:xfrm>
          <a:prstGeom prst="rect">
            <a:avLst/>
          </a:prstGeom>
          <a:noFill/>
        </p:spPr>
        <p:txBody>
          <a:bodyPr wrap="none">
            <a:spAutoFit/>
          </a:bodyPr>
          <a:lstStyle/>
          <a:p>
            <a:r>
              <a:rPr sz="2800" b="1">
                <a:solidFill>
                  <a:srgbClr val="303030"/>
                </a:solidFill>
                <a:latin typeface="Georgia"/>
              </a:rPr>
              <a:t>buttons and keys, testing in class</a:t>
            </a:r>
          </a:p>
        </p:txBody>
      </p:sp>
      <p:sp>
        <p:nvSpPr>
          <p:cNvPr id="5" name="TextBox 4"/>
          <p:cNvSpPr txBox="1"/>
          <p:nvPr/>
        </p:nvSpPr>
        <p:spPr>
          <a:xfrm>
            <a:off x="2377440" y="1188720"/>
            <a:ext cx="5852160" cy="5394960"/>
          </a:xfrm>
          <a:prstGeom prst="rect">
            <a:avLst/>
          </a:prstGeom>
          <a:noFill/>
        </p:spPr>
        <p:txBody>
          <a:bodyPr wrap="square">
            <a:spAutoFit/>
          </a:bodyPr>
          <a:lstStyle/>
          <a:p>
            <a:pPr>
              <a:spcAft>
                <a:spcPts val="600"/>
              </a:spcAft>
            </a:pPr>
            <a:r>
              <a:rPr sz="1300" b="1">
                <a:solidFill>
                  <a:srgbClr val="5B8C5A"/>
                </a:solidFill>
                <a:latin typeface="Georgia"/>
              </a:rPr>
              <a:t>Goal: </a:t>
            </a:r>
            <a:r>
              <a:rPr sz="1300" b="0">
                <a:solidFill>
                  <a:srgbClr val="303030"/>
                </a:solidFill>
                <a:latin typeface="Georgia"/>
              </a:rPr>
              <a:t>let people choose the feeling.</a:t>
            </a:r>
          </a:p>
          <a:p>
            <a:pPr>
              <a:spcAft>
                <a:spcPts val="600"/>
              </a:spcAft>
            </a:pPr>
            <a:r>
              <a:rPr sz="1300" b="1">
                <a:solidFill>
                  <a:srgbClr val="5B8C5A"/>
                </a:solidFill>
                <a:latin typeface="Georgia"/>
              </a:rPr>
              <a:t>What happened: </a:t>
            </a:r>
            <a:r>
              <a:rPr sz="1300" b="0">
                <a:solidFill>
                  <a:srgbClr val="303030"/>
                </a:solidFill>
                <a:latin typeface="Georgia"/>
              </a:rPr>
              <a:t>int scene = 1; remembers which scene to display. draw() checks if scene is 1, 2, 3 or 4 and then displays that scene. The 1–4 keys (in keyPressed()) and the buttons at the bottom (in mousePressed()) change the scene. The buttons check where mouseX is to know which scene to change to.</a:t>
            </a:r>
          </a:p>
          <a:p>
            <a:pPr>
              <a:spcAft>
                <a:spcPts val="600"/>
              </a:spcAft>
            </a:pPr>
            <a:r>
              <a:rPr sz="1300" b="0">
                <a:solidFill>
                  <a:srgbClr val="303030"/>
                </a:solidFill>
                <a:latin typeface="Georgia"/>
              </a:rPr>
              <a:t>Two classmates tried it in the tutorial.</a:t>
            </a:r>
          </a:p>
          <a:p>
            <a:pPr>
              <a:spcAft>
                <a:spcPts val="600"/>
              </a:spcAft>
            </a:pPr>
            <a:r>
              <a:rPr sz="1300" b="0">
                <a:solidFill>
                  <a:srgbClr val="303030"/>
                </a:solidFill>
                <a:latin typeface="Georgia"/>
              </a:rPr>
              <a:t>• Classmate A: "Angry looks like a sunset to me. Is it supposed to be scary?"</a:t>
            </a:r>
          </a:p>
          <a:p>
            <a:pPr>
              <a:spcAft>
                <a:spcPts val="600"/>
              </a:spcAft>
            </a:pPr>
            <a:r>
              <a:rPr sz="1300" b="0">
                <a:solidFill>
                  <a:srgbClr val="303030"/>
                </a:solidFill>
                <a:latin typeface="Georgia"/>
              </a:rPr>
              <a:t>• Classmate B: "When I go back to Happy the flowers are already big. I missed the growing part."</a:t>
            </a:r>
          </a:p>
          <a:p>
            <a:pPr>
              <a:spcAft>
                <a:spcPts val="600"/>
              </a:spcAft>
            </a:pPr>
            <a:r>
              <a:rPr sz="1300" b="1">
                <a:solidFill>
                  <a:srgbClr val="5B8C5A"/>
                </a:solidFill>
                <a:latin typeface="Georgia"/>
              </a:rPr>
              <a:t>Learnt: </a:t>
            </a:r>
            <a:r>
              <a:rPr sz="1300" b="0">
                <a:solidFill>
                  <a:srgbClr val="303030"/>
                </a:solidFill>
                <a:latin typeface="Georgia"/>
              </a:rPr>
              <a:t>B was right. bloomSize only grew once. I made changeScene() and when it goes to Happy, I set bloomSize to 0 and butterflyX to -50, so the flowers bloom again every time.</a:t>
            </a:r>
          </a:p>
        </p:txBody>
      </p:sp>
      <p:pic>
        <p:nvPicPr>
          <p:cNvPr id="6" name="Picture 5" descr=""/>
          <p:cNvPicPr>
            <a:picLocks noChangeAspect="1"/>
          </p:cNvPicPr>
          <p:nvPr/>
        </p:nvPicPr>
        <p:blipFill>
          <a:blip r:embed="rId2"/>
          <a:stretch>
            <a:fillRect/>
          </a:stretch>
        </p:blipFill>
        <p:spPr>
          <a:xfrm>
            <a:off x="8503920" y="1280160"/>
            <a:ext cx="3383280" cy="22555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0" cy="6858000"/>
          </a:xfrm>
          <a:prstGeom prst="rect">
            <a:avLst/>
          </a:prstGeom>
          <a:solidFill>
            <a:srgbClr val="5B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457200"/>
            <a:ext cx="1645920" cy="1828800"/>
          </a:xfrm>
          <a:prstGeom prst="rect">
            <a:avLst/>
          </a:prstGeom>
          <a:noFill/>
        </p:spPr>
        <p:txBody>
          <a:bodyPr wrap="none">
            <a:spAutoFit/>
          </a:bodyPr>
          <a:lstStyle/>
          <a:p>
            <a:r>
              <a:rPr sz="1600" b="0">
                <a:solidFill>
                  <a:srgbClr val="FFFFFF"/>
                </a:solidFill>
                <a:latin typeface="Georgia"/>
              </a:rPr>
              <a:t>WEEK</a:t>
            </a:r>
          </a:p>
          <a:p>
            <a:r>
              <a:rPr sz="6000" b="1">
                <a:solidFill>
                  <a:srgbClr val="FFFFFF"/>
                </a:solidFill>
                <a:latin typeface="Georgia"/>
              </a:rPr>
              <a:t>11</a:t>
            </a:r>
          </a:p>
        </p:txBody>
      </p:sp>
      <p:sp>
        <p:nvSpPr>
          <p:cNvPr id="4" name="TextBox 3"/>
          <p:cNvSpPr txBox="1"/>
          <p:nvPr/>
        </p:nvSpPr>
        <p:spPr>
          <a:xfrm>
            <a:off x="2377440" y="320040"/>
            <a:ext cx="9418320" cy="731520"/>
          </a:xfrm>
          <a:prstGeom prst="rect">
            <a:avLst/>
          </a:prstGeom>
          <a:noFill/>
        </p:spPr>
        <p:txBody>
          <a:bodyPr wrap="none">
            <a:spAutoFit/>
          </a:bodyPr>
          <a:lstStyle/>
          <a:p>
            <a:r>
              <a:rPr sz="2800" b="1">
                <a:solidFill>
                  <a:srgbClr val="303030"/>
                </a:solidFill>
                <a:latin typeface="Georgia"/>
              </a:rPr>
              <a:t>testing and comments</a:t>
            </a:r>
          </a:p>
        </p:txBody>
      </p:sp>
      <p:sp>
        <p:nvSpPr>
          <p:cNvPr id="5" name="TextBox 4"/>
          <p:cNvSpPr txBox="1"/>
          <p:nvPr/>
        </p:nvSpPr>
        <p:spPr>
          <a:xfrm>
            <a:off x="2377440" y="1188720"/>
            <a:ext cx="5852160" cy="5394960"/>
          </a:xfrm>
          <a:prstGeom prst="rect">
            <a:avLst/>
          </a:prstGeom>
          <a:noFill/>
        </p:spPr>
        <p:txBody>
          <a:bodyPr wrap="square">
            <a:spAutoFit/>
          </a:bodyPr>
          <a:lstStyle/>
          <a:p>
            <a:pPr>
              <a:spcAft>
                <a:spcPts val="600"/>
              </a:spcAft>
            </a:pPr>
            <a:r>
              <a:rPr sz="1300" b="1">
                <a:solidFill>
                  <a:srgbClr val="5B8C5A"/>
                </a:solidFill>
                <a:latin typeface="Georgia"/>
              </a:rPr>
              <a:t>Goal: </a:t>
            </a:r>
            <a:r>
              <a:rPr sz="1300" b="0">
                <a:solidFill>
                  <a:srgbClr val="303030"/>
                </a:solidFill>
                <a:latin typeface="Georgia"/>
              </a:rPr>
              <a:t>test all four scenes and explain my code.</a:t>
            </a:r>
          </a:p>
          <a:p>
            <a:pPr>
              <a:spcAft>
                <a:spcPts val="600"/>
              </a:spcAft>
            </a:pPr>
            <a:r>
              <a:rPr sz="1300" b="1">
                <a:solidFill>
                  <a:srgbClr val="5B8C5A"/>
                </a:solidFill>
                <a:latin typeface="Georgia"/>
              </a:rPr>
              <a:t>What happened: </a:t>
            </a:r>
            <a:r>
              <a:rPr sz="1300" b="0">
                <a:solidFill>
                  <a:srgbClr val="303030"/>
                </a:solidFill>
                <a:latin typeface="Georgia"/>
              </a:rPr>
              <a:t>My tutor said my comments were too short, for example // loop above a for loop. I went through the whole program and wrote what each variable, loop and function does.</a:t>
            </a:r>
          </a:p>
          <a:p>
            <a:pPr>
              <a:spcAft>
                <a:spcPts val="600"/>
              </a:spcAft>
            </a:pPr>
            <a:r>
              <a:rPr sz="1300" b="0">
                <a:solidFill>
                  <a:srgbClr val="303030"/>
                </a:solidFill>
                <a:latin typeface="Georgia"/>
              </a:rPr>
              <a:t>Above draw() I wrote "draw() runs again and again every second." I looked at the bloom: +0.01 each time, from 0 to 1, means it should take 100 seconds to bloom, but in my program it takes about 2 seconds. This means draw() does not run once a second. The Week 4 slide says animations run 30–60 times per second. Processing runs 60 times per second if nothing stops it. So the butterfly moves +2 each frame, which is 120 pixels per second.</a:t>
            </a:r>
          </a:p>
          <a:p>
            <a:pPr>
              <a:spcAft>
                <a:spcPts val="600"/>
              </a:spcAft>
            </a:pPr>
            <a:r>
              <a:rPr sz="1300" b="1">
                <a:solidFill>
                  <a:srgbClr val="5B8C5A"/>
                </a:solidFill>
                <a:latin typeface="Georgia"/>
              </a:rPr>
              <a:t>Learnt: </a:t>
            </a:r>
            <a:r>
              <a:rPr sz="1300" b="0">
                <a:solidFill>
                  <a:srgbClr val="303030"/>
                </a:solidFill>
                <a:latin typeface="Georgia"/>
              </a:rPr>
              <a:t>My comment was wrong but the program still worked. Making the comment was what showed me I did not understand it.</a:t>
            </a:r>
          </a:p>
          <a:p>
            <a:pPr>
              <a:spcAft>
                <a:spcPts val="600"/>
              </a:spcAft>
            </a:pPr>
            <a:r>
              <a:rPr sz="1300" b="0">
                <a:solidFill>
                  <a:srgbClr val="303030"/>
                </a:solidFill>
                <a:latin typeface="Georgia"/>
              </a:rPr>
              <a:t>About classmate A, I kept red for angry, and A is right that orange suns and red skies also look like a sunset. So the colour does not carry the feeling alone.</a:t>
            </a:r>
          </a:p>
        </p:txBody>
      </p:sp>
      <p:pic>
        <p:nvPicPr>
          <p:cNvPr id="6" name="Picture 5" descr=""/>
          <p:cNvPicPr>
            <a:picLocks noChangeAspect="1"/>
          </p:cNvPicPr>
          <p:nvPr/>
        </p:nvPicPr>
        <p:blipFill>
          <a:blip r:embed="rId2"/>
          <a:stretch>
            <a:fillRect/>
          </a:stretch>
        </p:blipFill>
        <p:spPr>
          <a:xfrm>
            <a:off x="8503920" y="1280160"/>
            <a:ext cx="3383280" cy="112340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0" cy="6858000"/>
          </a:xfrm>
          <a:prstGeom prst="rect">
            <a:avLst/>
          </a:prstGeom>
          <a:solidFill>
            <a:srgbClr val="5B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457200"/>
            <a:ext cx="1645920" cy="1828800"/>
          </a:xfrm>
          <a:prstGeom prst="rect">
            <a:avLst/>
          </a:prstGeom>
          <a:noFill/>
        </p:spPr>
        <p:txBody>
          <a:bodyPr wrap="none">
            <a:spAutoFit/>
          </a:bodyPr>
          <a:lstStyle/>
          <a:p>
            <a:r>
              <a:rPr sz="1600" b="0">
                <a:solidFill>
                  <a:srgbClr val="FFFFFF"/>
                </a:solidFill>
                <a:latin typeface="Georgia"/>
              </a:rPr>
              <a:t>WEEK</a:t>
            </a:r>
          </a:p>
          <a:p>
            <a:r>
              <a:rPr sz="6000" b="1">
                <a:solidFill>
                  <a:srgbClr val="FFFFFF"/>
                </a:solidFill>
                <a:latin typeface="Georgia"/>
              </a:rPr>
              <a:t>12</a:t>
            </a:r>
          </a:p>
        </p:txBody>
      </p:sp>
      <p:sp>
        <p:nvSpPr>
          <p:cNvPr id="4" name="TextBox 3"/>
          <p:cNvSpPr txBox="1"/>
          <p:nvPr/>
        </p:nvSpPr>
        <p:spPr>
          <a:xfrm>
            <a:off x="2377440" y="320040"/>
            <a:ext cx="9418320" cy="731520"/>
          </a:xfrm>
          <a:prstGeom prst="rect">
            <a:avLst/>
          </a:prstGeom>
          <a:noFill/>
        </p:spPr>
        <p:txBody>
          <a:bodyPr wrap="none">
            <a:spAutoFit/>
          </a:bodyPr>
          <a:lstStyle/>
          <a:p>
            <a:r>
              <a:rPr sz="2800" b="1">
                <a:solidFill>
                  <a:srgbClr val="303030"/>
                </a:solidFill>
                <a:latin typeface="Georgia"/>
              </a:rPr>
              <a:t>concept map 2</a:t>
            </a:r>
          </a:p>
        </p:txBody>
      </p:sp>
      <p:sp>
        <p:nvSpPr>
          <p:cNvPr id="5" name="TextBox 4"/>
          <p:cNvSpPr txBox="1"/>
          <p:nvPr/>
        </p:nvSpPr>
        <p:spPr>
          <a:xfrm>
            <a:off x="2377440" y="1188720"/>
            <a:ext cx="5852160" cy="5394960"/>
          </a:xfrm>
          <a:prstGeom prst="rect">
            <a:avLst/>
          </a:prstGeom>
          <a:noFill/>
        </p:spPr>
        <p:txBody>
          <a:bodyPr wrap="square">
            <a:spAutoFit/>
          </a:bodyPr>
          <a:lstStyle/>
          <a:p>
            <a:pPr>
              <a:spcAft>
                <a:spcPts val="600"/>
              </a:spcAft>
            </a:pPr>
            <a:r>
              <a:rPr sz="1300" b="1">
                <a:solidFill>
                  <a:srgbClr val="5B8C5A"/>
                </a:solidFill>
                <a:latin typeface="Georgia"/>
              </a:rPr>
              <a:t>Goal: </a:t>
            </a:r>
            <a:r>
              <a:rPr sz="1300" b="0">
                <a:solidFill>
                  <a:srgbClr val="303030"/>
                </a:solidFill>
                <a:latin typeface="Georgia"/>
              </a:rPr>
              <a:t>finish, second concept map, GitHub.</a:t>
            </a:r>
          </a:p>
          <a:p>
            <a:pPr>
              <a:spcAft>
                <a:spcPts val="600"/>
              </a:spcAft>
            </a:pPr>
            <a:r>
              <a:rPr sz="1300" b="1">
                <a:solidFill>
                  <a:srgbClr val="5B8C5A"/>
                </a:solidFill>
                <a:latin typeface="Georgia"/>
              </a:rPr>
              <a:t>What happened: </a:t>
            </a:r>
            <a:r>
              <a:rPr sz="1300" b="0">
                <a:solidFill>
                  <a:srgbClr val="303030"/>
                </a:solidFill>
                <a:latin typeface="Georgia"/>
              </a:rPr>
              <a:t>fixed the draw() comment. Put the sketch in a folder with the same name (EmotionGarden/EmotionGarden.pde) because Processing will not open it otherwise. Wrote the README with instructions on how to run it.</a:t>
            </a:r>
          </a:p>
          <a:p>
            <a:pPr>
              <a:spcAft>
                <a:spcPts val="600"/>
              </a:spcAft>
            </a:pPr>
            <a:r>
              <a:rPr sz="1300" b="0">
                <a:solidFill>
                  <a:srgbClr val="303030"/>
                </a:solidFill>
                <a:latin typeface="Georgia"/>
              </a:rPr>
              <a:t>Concept map 2 has EMOTION GARDEN at the top, with two sides: what I see and what the code keeps. What I see includes colour, speed, and shape. The code keeps scene, arrays, bloomSize, and butterflyX. At the bottom is the draw() loop which happens 60 times a second. Dashed lines show connections such as speed -&gt; arrays: "+ petalSpeed[i] every frame", and colour -&gt; scene: "angry = red: my choice, not a rule".</a:t>
            </a:r>
          </a:p>
          <a:p>
            <a:pPr>
              <a:spcAft>
                <a:spcPts val="600"/>
              </a:spcAft>
            </a:pPr>
            <a:r>
              <a:rPr sz="1300" b="1">
                <a:solidFill>
                  <a:srgbClr val="5B8C5A"/>
                </a:solidFill>
                <a:latin typeface="Georgia"/>
              </a:rPr>
              <a:t>Learnt: </a:t>
            </a:r>
            <a:r>
              <a:rPr sz="1300" b="0">
                <a:solidFill>
                  <a:srgbClr val="303030"/>
                </a:solidFill>
                <a:latin typeface="Georgia"/>
              </a:rPr>
              <a:t>My first concept map had no art on it. Almost every line of this map goes between art and code.</a:t>
            </a:r>
          </a:p>
          <a:p>
            <a:pPr>
              <a:spcAft>
                <a:spcPts val="600"/>
              </a:spcAft>
            </a:pPr>
            <a:r>
              <a:rPr sz="1300" b="1">
                <a:solidFill>
                  <a:srgbClr val="5B8C5A"/>
                </a:solidFill>
                <a:latin typeface="Georgia"/>
              </a:rPr>
              <a:t>Still to do: </a:t>
            </a:r>
            <a:r>
              <a:rPr sz="1300" b="0">
                <a:solidFill>
                  <a:srgbClr val="303030"/>
                </a:solidFill>
                <a:latin typeface="Georgia"/>
              </a:rPr>
              <a:t>More smooth transitions between scenes, using more than one colour for each feeling, and asking more people what they feel.</a:t>
            </a:r>
          </a:p>
        </p:txBody>
      </p:sp>
      <p:pic>
        <p:nvPicPr>
          <p:cNvPr id="6" name="Picture 5" descr=""/>
          <p:cNvPicPr>
            <a:picLocks noChangeAspect="1"/>
          </p:cNvPicPr>
          <p:nvPr/>
        </p:nvPicPr>
        <p:blipFill>
          <a:blip r:embed="rId2"/>
          <a:stretch>
            <a:fillRect/>
          </a:stretch>
        </p:blipFill>
        <p:spPr>
          <a:xfrm>
            <a:off x="8503920" y="1280160"/>
            <a:ext cx="3383280" cy="292072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Words>0</Words>
  <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category/>
</cp:coreProperties>
</file>